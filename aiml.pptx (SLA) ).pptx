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Lst>
  <p:sldSz cx="18288000" cy="10287000"/>
  <p:notesSz cx="6858000" cy="9144000"/>
  <p:embeddedFontLst>
    <p:embeddedFont>
      <p:font typeface="Arial Bold"/>
      <p:regular r:id="rId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53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152400" y="2798415"/>
            <a:ext cx="5562624" cy="5960841"/>
            <a:chOff x="0" y="0"/>
            <a:chExt cx="7416832" cy="7947788"/>
          </a:xfrm>
        </p:grpSpPr>
        <p:sp>
          <p:nvSpPr>
            <p:cNvPr id="7" name="Freeform 7" descr="preencoded.png"/>
            <p:cNvSpPr/>
            <p:nvPr/>
          </p:nvSpPr>
          <p:spPr>
            <a:xfrm>
              <a:off x="0" y="0"/>
              <a:ext cx="7416800" cy="7947787"/>
            </a:xfrm>
            <a:custGeom>
              <a:avLst/>
              <a:gdLst/>
              <a:ahLst/>
              <a:cxnLst/>
              <a:rect l="l" t="t" r="r" b="b"/>
              <a:pathLst>
                <a:path w="7416800" h="7947787">
                  <a:moveTo>
                    <a:pt x="0" y="0"/>
                  </a:moveTo>
                  <a:lnTo>
                    <a:pt x="7416800" y="0"/>
                  </a:lnTo>
                  <a:lnTo>
                    <a:pt x="7416800" y="7947787"/>
                  </a:lnTo>
                  <a:lnTo>
                    <a:pt x="0" y="7947787"/>
                  </a:lnTo>
                  <a:lnTo>
                    <a:pt x="0" y="0"/>
                  </a:lnTo>
                  <a:close/>
                </a:path>
              </a:pathLst>
            </a:custGeom>
            <a:blipFill>
              <a:blip r:embed="rId2"/>
              <a:stretch>
                <a:fillRect t="-16707" b="-16707"/>
              </a:stretch>
            </a:blipFill>
          </p:spPr>
        </p:sp>
      </p:grpSp>
      <p:sp>
        <p:nvSpPr>
          <p:cNvPr id="8" name="Freeform 8"/>
          <p:cNvSpPr/>
          <p:nvPr/>
        </p:nvSpPr>
        <p:spPr>
          <a:xfrm>
            <a:off x="8166125" y="-315922"/>
            <a:ext cx="10699109" cy="11190662"/>
          </a:xfrm>
          <a:custGeom>
            <a:avLst/>
            <a:gdLst/>
            <a:ahLst/>
            <a:cxnLst/>
            <a:rect l="l" t="t" r="r" b="b"/>
            <a:pathLst>
              <a:path w="10699109" h="11190662">
                <a:moveTo>
                  <a:pt x="0" y="0"/>
                </a:moveTo>
                <a:lnTo>
                  <a:pt x="10699109" y="0"/>
                </a:lnTo>
                <a:lnTo>
                  <a:pt x="10699109" y="11190662"/>
                </a:lnTo>
                <a:lnTo>
                  <a:pt x="0" y="11190662"/>
                </a:lnTo>
                <a:lnTo>
                  <a:pt x="0" y="0"/>
                </a:lnTo>
                <a:close/>
              </a:path>
            </a:pathLst>
          </a:custGeom>
          <a:blipFill>
            <a:blip r:embed="rId3">
              <a:alphaModFix amt="18999"/>
              <a:extLst>
                <a:ext uri="{96DAC541-7B7A-43D3-8B79-37D633B846F1}">
                  <asvg:svgBlip xmlns:asvg="http://schemas.microsoft.com/office/drawing/2016/SVG/main" r:embed="rId4"/>
                </a:ext>
              </a:extLst>
            </a:blip>
            <a:stretch>
              <a:fillRect/>
            </a:stretch>
          </a:blipFill>
        </p:spPr>
      </p:sp>
      <p:sp>
        <p:nvSpPr>
          <p:cNvPr id="9" name="Freeform 9"/>
          <p:cNvSpPr/>
          <p:nvPr/>
        </p:nvSpPr>
        <p:spPr>
          <a:xfrm>
            <a:off x="-1295033" y="-882310"/>
            <a:ext cx="8374142" cy="8371419"/>
          </a:xfrm>
          <a:custGeom>
            <a:avLst/>
            <a:gdLst/>
            <a:ahLst/>
            <a:cxnLst/>
            <a:rect l="l" t="t" r="r" b="b"/>
            <a:pathLst>
              <a:path w="8374142" h="8371419">
                <a:moveTo>
                  <a:pt x="0" y="0"/>
                </a:moveTo>
                <a:lnTo>
                  <a:pt x="8374142" y="0"/>
                </a:lnTo>
                <a:lnTo>
                  <a:pt x="8374142" y="8371418"/>
                </a:lnTo>
                <a:lnTo>
                  <a:pt x="0" y="8371418"/>
                </a:lnTo>
                <a:lnTo>
                  <a:pt x="0" y="0"/>
                </a:lnTo>
                <a:close/>
              </a:path>
            </a:pathLst>
          </a:custGeom>
          <a:blipFill>
            <a:blip r:embed="rId5">
              <a:alphaModFix amt="43000"/>
              <a:extLst>
                <a:ext uri="{96DAC541-7B7A-43D3-8B79-37D633B846F1}">
                  <asvg:svgBlip xmlns:asvg="http://schemas.microsoft.com/office/drawing/2016/SVG/main" r:embed="rId6"/>
                </a:ext>
              </a:extLst>
            </a:blip>
            <a:stretch>
              <a:fillRect/>
            </a:stretch>
          </a:blipFill>
        </p:spPr>
      </p:sp>
      <p:sp>
        <p:nvSpPr>
          <p:cNvPr id="10" name="TextBox 10"/>
          <p:cNvSpPr txBox="1"/>
          <p:nvPr/>
        </p:nvSpPr>
        <p:spPr>
          <a:xfrm>
            <a:off x="343670" y="428625"/>
            <a:ext cx="17600660" cy="1799974"/>
          </a:xfrm>
          <a:prstGeom prst="rect">
            <a:avLst/>
          </a:prstGeom>
        </p:spPr>
        <p:txBody>
          <a:bodyPr lIns="0" tIns="0" rIns="0" bIns="0" rtlCol="0" anchor="t">
            <a:spAutoFit/>
          </a:bodyPr>
          <a:lstStyle/>
          <a:p>
            <a:pPr algn="ctr">
              <a:lnSpc>
                <a:spcPts val="14180"/>
              </a:lnSpc>
            </a:pPr>
            <a:r>
              <a:rPr lang="en-US" sz="7878" b="1">
                <a:solidFill>
                  <a:srgbClr val="4950BC"/>
                </a:solidFill>
                <a:latin typeface="Arial Bold"/>
                <a:ea typeface="Arial Bold"/>
                <a:cs typeface="Arial Bold"/>
                <a:sym typeface="Arial Bold"/>
              </a:rPr>
              <a:t>SUSTAINABLE LIVING ADVISOR</a:t>
            </a:r>
          </a:p>
        </p:txBody>
      </p:sp>
      <p:sp>
        <p:nvSpPr>
          <p:cNvPr id="11" name="TextBox 11"/>
          <p:cNvSpPr txBox="1"/>
          <p:nvPr/>
        </p:nvSpPr>
        <p:spPr>
          <a:xfrm>
            <a:off x="5850582" y="2750790"/>
            <a:ext cx="11446818" cy="942975"/>
          </a:xfrm>
          <a:prstGeom prst="rect">
            <a:avLst/>
          </a:prstGeom>
        </p:spPr>
        <p:txBody>
          <a:bodyPr lIns="0" tIns="0" rIns="0" bIns="0" rtlCol="0" anchor="t">
            <a:spAutoFit/>
          </a:bodyPr>
          <a:lstStyle/>
          <a:p>
            <a:pPr algn="l">
              <a:lnSpc>
                <a:spcPts val="3450"/>
              </a:lnSpc>
            </a:pPr>
            <a:r>
              <a:rPr lang="en-US" sz="3000" b="1" spc="3">
                <a:solidFill>
                  <a:srgbClr val="000000"/>
                </a:solidFill>
                <a:latin typeface="Arial Bold"/>
                <a:ea typeface="Arial Bold"/>
                <a:cs typeface="Arial Bold"/>
                <a:sym typeface="Arial Bold"/>
              </a:rPr>
              <a:t>AN INNOVATIVE AI-DRIVEN PERSONALIZED GUIDANCE SYSTEM FOR FOSTERING ECO-FRIENDLY LIFESTYLES.</a:t>
            </a:r>
          </a:p>
        </p:txBody>
      </p:sp>
      <p:sp>
        <p:nvSpPr>
          <p:cNvPr id="12" name="TextBox 12"/>
          <p:cNvSpPr txBox="1"/>
          <p:nvPr/>
        </p:nvSpPr>
        <p:spPr>
          <a:xfrm>
            <a:off x="5887640" y="3888581"/>
            <a:ext cx="11446818" cy="923925"/>
          </a:xfrm>
          <a:prstGeom prst="rect">
            <a:avLst/>
          </a:prstGeom>
        </p:spPr>
        <p:txBody>
          <a:bodyPr lIns="0" tIns="0" rIns="0" bIns="0" rtlCol="0" anchor="t">
            <a:spAutoFit/>
          </a:bodyPr>
          <a:lstStyle/>
          <a:p>
            <a:pPr algn="just">
              <a:lnSpc>
                <a:spcPts val="3600"/>
              </a:lnSpc>
            </a:pPr>
            <a:r>
              <a:rPr lang="en-US" sz="2000">
                <a:solidFill>
                  <a:srgbClr val="272525"/>
                </a:solidFill>
                <a:latin typeface="Arial"/>
                <a:ea typeface="Arial"/>
                <a:cs typeface="Arial"/>
                <a:sym typeface="Arial"/>
              </a:rPr>
              <a:t>Sustainable living aims to minimize an individual's ecological footprint through responsible choices in energy, diet, consumption, and waste management.</a:t>
            </a:r>
          </a:p>
        </p:txBody>
      </p:sp>
      <p:sp>
        <p:nvSpPr>
          <p:cNvPr id="13" name="TextBox 13"/>
          <p:cNvSpPr txBox="1"/>
          <p:nvPr/>
        </p:nvSpPr>
        <p:spPr>
          <a:xfrm>
            <a:off x="5887640" y="4875460"/>
            <a:ext cx="11446818" cy="3209925"/>
          </a:xfrm>
          <a:prstGeom prst="rect">
            <a:avLst/>
          </a:prstGeom>
        </p:spPr>
        <p:txBody>
          <a:bodyPr lIns="0" tIns="0" rIns="0" bIns="0" rtlCol="0" anchor="t">
            <a:spAutoFit/>
          </a:bodyPr>
          <a:lstStyle/>
          <a:p>
            <a:pPr algn="just">
              <a:lnSpc>
                <a:spcPts val="3600"/>
              </a:lnSpc>
            </a:pPr>
            <a:r>
              <a:rPr lang="en-US" sz="2000">
                <a:solidFill>
                  <a:srgbClr val="272525"/>
                </a:solidFill>
                <a:latin typeface="Arial"/>
                <a:ea typeface="Arial"/>
                <a:cs typeface="Arial"/>
                <a:sym typeface="Arial"/>
              </a:rPr>
              <a:t>The Sustainable Living Advisor is an AI-powered tool that helps you make eco-friendly choices based on real-time environmental data. It uses advanced technologies to analyze information from sensors and satellites, providing personalized recommendations tailored to your habits and local conditions. Whether it's tips on reducing energy use or recycling strategies, this system empowers you to adopt sustainable practices in a simple way. By understanding your lifestyle and the environment around you, the Advisor makes it easy for you to take action for a greener future and contribute to the health of our planet.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2594273" y="345604"/>
            <a:ext cx="13099454" cy="1372749"/>
          </a:xfrm>
          <a:prstGeom prst="rect">
            <a:avLst/>
          </a:prstGeom>
        </p:spPr>
        <p:txBody>
          <a:bodyPr lIns="0" tIns="0" rIns="0" bIns="0" rtlCol="0" anchor="t">
            <a:spAutoFit/>
          </a:bodyPr>
          <a:lstStyle/>
          <a:p>
            <a:pPr algn="l">
              <a:lnSpc>
                <a:spcPts val="11285"/>
              </a:lnSpc>
            </a:pPr>
            <a:r>
              <a:rPr lang="en-US" sz="5224" b="1">
                <a:solidFill>
                  <a:srgbClr val="4950BC"/>
                </a:solidFill>
                <a:latin typeface="Arial Bold"/>
                <a:ea typeface="Arial Bold"/>
                <a:cs typeface="Arial Bold"/>
                <a:sym typeface="Arial Bold"/>
              </a:rPr>
              <a:t>OBJECTIVE:</a:t>
            </a:r>
            <a:r>
              <a:rPr lang="en-US" sz="5224" b="1">
                <a:solidFill>
                  <a:srgbClr val="000000"/>
                </a:solidFill>
                <a:latin typeface="Arial Bold"/>
                <a:ea typeface="Arial Bold"/>
                <a:cs typeface="Arial Bold"/>
                <a:sym typeface="Arial Bold"/>
              </a:rPr>
              <a:t> AI-DRIVEN ECO-GUIDANCE</a:t>
            </a:r>
          </a:p>
        </p:txBody>
      </p:sp>
      <p:sp>
        <p:nvSpPr>
          <p:cNvPr id="7" name="Freeform 7"/>
          <p:cNvSpPr/>
          <p:nvPr/>
        </p:nvSpPr>
        <p:spPr>
          <a:xfrm>
            <a:off x="797570" y="2201317"/>
            <a:ext cx="8250935" cy="3389948"/>
          </a:xfrm>
          <a:custGeom>
            <a:avLst/>
            <a:gdLst/>
            <a:ahLst/>
            <a:cxnLst/>
            <a:rect l="l" t="t" r="r" b="b"/>
            <a:pathLst>
              <a:path w="8250935" h="3389948">
                <a:moveTo>
                  <a:pt x="0" y="0"/>
                </a:moveTo>
                <a:lnTo>
                  <a:pt x="8250935" y="0"/>
                </a:lnTo>
                <a:lnTo>
                  <a:pt x="8250935" y="3389948"/>
                </a:lnTo>
                <a:lnTo>
                  <a:pt x="0" y="33899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1012329" y="2441228"/>
            <a:ext cx="601694" cy="601695"/>
            <a:chOff x="0" y="0"/>
            <a:chExt cx="802259" cy="802260"/>
          </a:xfrm>
        </p:grpSpPr>
        <p:sp>
          <p:nvSpPr>
            <p:cNvPr id="9" name="Freeform 9"/>
            <p:cNvSpPr/>
            <p:nvPr/>
          </p:nvSpPr>
          <p:spPr>
            <a:xfrm>
              <a:off x="0" y="0"/>
              <a:ext cx="802259" cy="802259"/>
            </a:xfrm>
            <a:custGeom>
              <a:avLst/>
              <a:gdLst/>
              <a:ahLst/>
              <a:cxnLst/>
              <a:rect l="l" t="t" r="r" b="b"/>
              <a:pathLst>
                <a:path w="802259" h="802259">
                  <a:moveTo>
                    <a:pt x="0" y="401193"/>
                  </a:moveTo>
                  <a:cubicBezTo>
                    <a:pt x="0" y="179578"/>
                    <a:pt x="179578" y="0"/>
                    <a:pt x="401193" y="0"/>
                  </a:cubicBezTo>
                  <a:cubicBezTo>
                    <a:pt x="622808" y="0"/>
                    <a:pt x="802259" y="179578"/>
                    <a:pt x="802259" y="401193"/>
                  </a:cubicBezTo>
                  <a:cubicBezTo>
                    <a:pt x="802259" y="622808"/>
                    <a:pt x="622681" y="802259"/>
                    <a:pt x="401193" y="802259"/>
                  </a:cubicBezTo>
                  <a:cubicBezTo>
                    <a:pt x="179705" y="802259"/>
                    <a:pt x="0" y="622681"/>
                    <a:pt x="0" y="401193"/>
                  </a:cubicBezTo>
                  <a:close/>
                </a:path>
              </a:pathLst>
            </a:custGeom>
            <a:solidFill>
              <a:srgbClr val="4950BC"/>
            </a:solidFill>
          </p:spPr>
        </p:sp>
      </p:grpSp>
      <p:grpSp>
        <p:nvGrpSpPr>
          <p:cNvPr id="10" name="Group 10"/>
          <p:cNvGrpSpPr/>
          <p:nvPr/>
        </p:nvGrpSpPr>
        <p:grpSpPr>
          <a:xfrm>
            <a:off x="1177826" y="2572791"/>
            <a:ext cx="270701" cy="338423"/>
            <a:chOff x="0" y="0"/>
            <a:chExt cx="360935" cy="451231"/>
          </a:xfrm>
        </p:grpSpPr>
        <p:sp>
          <p:nvSpPr>
            <p:cNvPr id="11" name="Freeform 11" descr="preencoded.png"/>
            <p:cNvSpPr/>
            <p:nvPr/>
          </p:nvSpPr>
          <p:spPr>
            <a:xfrm>
              <a:off x="0" y="0"/>
              <a:ext cx="360934" cy="451231"/>
            </a:xfrm>
            <a:custGeom>
              <a:avLst/>
              <a:gdLst/>
              <a:ahLst/>
              <a:cxnLst/>
              <a:rect l="l" t="t" r="r" b="b"/>
              <a:pathLst>
                <a:path w="360934" h="451231">
                  <a:moveTo>
                    <a:pt x="0" y="0"/>
                  </a:moveTo>
                  <a:lnTo>
                    <a:pt x="360934" y="0"/>
                  </a:lnTo>
                  <a:lnTo>
                    <a:pt x="360934" y="451231"/>
                  </a:lnTo>
                  <a:lnTo>
                    <a:pt x="0" y="451231"/>
                  </a:lnTo>
                  <a:lnTo>
                    <a:pt x="0" y="0"/>
                  </a:lnTo>
                  <a:close/>
                </a:path>
              </a:pathLst>
            </a:custGeom>
            <a:blipFill>
              <a:blip r:embed="rId4"/>
              <a:stretch>
                <a:fillRect t="-992" b="-992"/>
              </a:stretch>
            </a:blipFill>
          </p:spPr>
        </p:sp>
      </p:grpSp>
      <p:sp>
        <p:nvSpPr>
          <p:cNvPr id="12" name="TextBox 12"/>
          <p:cNvSpPr txBox="1"/>
          <p:nvPr/>
        </p:nvSpPr>
        <p:spPr>
          <a:xfrm>
            <a:off x="1012329" y="3243410"/>
            <a:ext cx="4076848" cy="307777"/>
          </a:xfrm>
          <a:prstGeom prst="rect">
            <a:avLst/>
          </a:prstGeom>
        </p:spPr>
        <p:txBody>
          <a:bodyPr lIns="0" tIns="0" rIns="0" bIns="0" rtlCol="0" anchor="t">
            <a:spAutoFit/>
          </a:bodyPr>
          <a:lstStyle/>
          <a:p>
            <a:pPr algn="l">
              <a:lnSpc>
                <a:spcPts val="2437"/>
              </a:lnSpc>
            </a:pPr>
            <a:r>
              <a:rPr lang="en-US" sz="2499" b="1">
                <a:solidFill>
                  <a:srgbClr val="272525"/>
                </a:solidFill>
                <a:latin typeface="Arial Bold"/>
                <a:ea typeface="Arial Bold"/>
                <a:cs typeface="Arial Bold"/>
                <a:sym typeface="Arial Bold"/>
              </a:rPr>
              <a:t>Analyze &amp; Personalize</a:t>
            </a:r>
          </a:p>
        </p:txBody>
      </p:sp>
      <p:sp>
        <p:nvSpPr>
          <p:cNvPr id="13" name="TextBox 13"/>
          <p:cNvSpPr txBox="1"/>
          <p:nvPr/>
        </p:nvSpPr>
        <p:spPr>
          <a:xfrm>
            <a:off x="1012329" y="3562796"/>
            <a:ext cx="7821365" cy="987425"/>
          </a:xfrm>
          <a:prstGeom prst="rect">
            <a:avLst/>
          </a:prstGeom>
        </p:spPr>
        <p:txBody>
          <a:bodyPr lIns="0" tIns="0" rIns="0" bIns="0" rtlCol="0" anchor="t">
            <a:spAutoFit/>
          </a:bodyPr>
          <a:lstStyle/>
          <a:p>
            <a:pPr algn="just">
              <a:lnSpc>
                <a:spcPts val="2500"/>
              </a:lnSpc>
            </a:pPr>
            <a:r>
              <a:rPr lang="en-US" sz="2000">
                <a:solidFill>
                  <a:srgbClr val="272525"/>
                </a:solidFill>
                <a:latin typeface="Arial"/>
                <a:ea typeface="Arial"/>
                <a:cs typeface="Arial"/>
                <a:sym typeface="Arial"/>
              </a:rPr>
              <a:t>Apply machine learning to analyze individual lifestyle habits and local environmental data, including CO2 emissions, air quality, and usage patterns for energy and water.</a:t>
            </a:r>
          </a:p>
        </p:txBody>
      </p:sp>
      <p:sp>
        <p:nvSpPr>
          <p:cNvPr id="14" name="TextBox 14"/>
          <p:cNvSpPr txBox="1"/>
          <p:nvPr/>
        </p:nvSpPr>
        <p:spPr>
          <a:xfrm>
            <a:off x="1012329" y="4536021"/>
            <a:ext cx="7821365" cy="987425"/>
          </a:xfrm>
          <a:prstGeom prst="rect">
            <a:avLst/>
          </a:prstGeom>
        </p:spPr>
        <p:txBody>
          <a:bodyPr lIns="0" tIns="0" rIns="0" bIns="0" rtlCol="0" anchor="t">
            <a:spAutoFit/>
          </a:bodyPr>
          <a:lstStyle/>
          <a:p>
            <a:pPr algn="just">
              <a:lnSpc>
                <a:spcPts val="2500"/>
              </a:lnSpc>
            </a:pPr>
            <a:r>
              <a:rPr lang="en-US" sz="2000">
                <a:solidFill>
                  <a:srgbClr val="272525"/>
                </a:solidFill>
                <a:latin typeface="Arial"/>
                <a:ea typeface="Arial"/>
                <a:cs typeface="Arial"/>
                <a:sym typeface="Arial"/>
              </a:rPr>
              <a:t>Utilize ML models (CNNs, SVMs, neural networks) to process user behavior and real-time environmental data (CO2 levels, air quality, resource usage).</a:t>
            </a:r>
          </a:p>
        </p:txBody>
      </p:sp>
      <p:sp>
        <p:nvSpPr>
          <p:cNvPr id="15" name="Freeform 15"/>
          <p:cNvSpPr/>
          <p:nvPr/>
        </p:nvSpPr>
        <p:spPr>
          <a:xfrm>
            <a:off x="9239399" y="2176312"/>
            <a:ext cx="8251031" cy="3389947"/>
          </a:xfrm>
          <a:custGeom>
            <a:avLst/>
            <a:gdLst/>
            <a:ahLst/>
            <a:cxnLst/>
            <a:rect l="l" t="t" r="r" b="b"/>
            <a:pathLst>
              <a:path w="8251031" h="3389947">
                <a:moveTo>
                  <a:pt x="0" y="0"/>
                </a:moveTo>
                <a:lnTo>
                  <a:pt x="8251031" y="0"/>
                </a:lnTo>
                <a:lnTo>
                  <a:pt x="8251031" y="3389947"/>
                </a:lnTo>
                <a:lnTo>
                  <a:pt x="0" y="338994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6" name="Group 16"/>
          <p:cNvGrpSpPr/>
          <p:nvPr/>
        </p:nvGrpSpPr>
        <p:grpSpPr>
          <a:xfrm>
            <a:off x="9454157" y="2441228"/>
            <a:ext cx="601695" cy="601695"/>
            <a:chOff x="0" y="0"/>
            <a:chExt cx="802260" cy="802260"/>
          </a:xfrm>
        </p:grpSpPr>
        <p:sp>
          <p:nvSpPr>
            <p:cNvPr id="17" name="Freeform 17"/>
            <p:cNvSpPr/>
            <p:nvPr/>
          </p:nvSpPr>
          <p:spPr>
            <a:xfrm>
              <a:off x="0" y="0"/>
              <a:ext cx="802259" cy="802259"/>
            </a:xfrm>
            <a:custGeom>
              <a:avLst/>
              <a:gdLst/>
              <a:ahLst/>
              <a:cxnLst/>
              <a:rect l="l" t="t" r="r" b="b"/>
              <a:pathLst>
                <a:path w="802259" h="802259">
                  <a:moveTo>
                    <a:pt x="0" y="401193"/>
                  </a:moveTo>
                  <a:cubicBezTo>
                    <a:pt x="0" y="179578"/>
                    <a:pt x="179578" y="0"/>
                    <a:pt x="401193" y="0"/>
                  </a:cubicBezTo>
                  <a:cubicBezTo>
                    <a:pt x="622808" y="0"/>
                    <a:pt x="802259" y="179578"/>
                    <a:pt x="802259" y="401193"/>
                  </a:cubicBezTo>
                  <a:cubicBezTo>
                    <a:pt x="802259" y="622808"/>
                    <a:pt x="622681" y="802259"/>
                    <a:pt x="401193" y="802259"/>
                  </a:cubicBezTo>
                  <a:cubicBezTo>
                    <a:pt x="179705" y="802259"/>
                    <a:pt x="0" y="622681"/>
                    <a:pt x="0" y="401193"/>
                  </a:cubicBezTo>
                  <a:close/>
                </a:path>
              </a:pathLst>
            </a:custGeom>
            <a:solidFill>
              <a:srgbClr val="4950BC"/>
            </a:solidFill>
          </p:spPr>
        </p:sp>
      </p:grpSp>
      <p:grpSp>
        <p:nvGrpSpPr>
          <p:cNvPr id="18" name="Group 18"/>
          <p:cNvGrpSpPr/>
          <p:nvPr/>
        </p:nvGrpSpPr>
        <p:grpSpPr>
          <a:xfrm>
            <a:off x="9619655" y="2572791"/>
            <a:ext cx="270701" cy="338423"/>
            <a:chOff x="0" y="0"/>
            <a:chExt cx="360935" cy="451231"/>
          </a:xfrm>
        </p:grpSpPr>
        <p:sp>
          <p:nvSpPr>
            <p:cNvPr id="19" name="Freeform 19" descr="preencoded.png"/>
            <p:cNvSpPr/>
            <p:nvPr/>
          </p:nvSpPr>
          <p:spPr>
            <a:xfrm>
              <a:off x="0" y="0"/>
              <a:ext cx="360934" cy="451231"/>
            </a:xfrm>
            <a:custGeom>
              <a:avLst/>
              <a:gdLst/>
              <a:ahLst/>
              <a:cxnLst/>
              <a:rect l="l" t="t" r="r" b="b"/>
              <a:pathLst>
                <a:path w="360934" h="451231">
                  <a:moveTo>
                    <a:pt x="0" y="0"/>
                  </a:moveTo>
                  <a:lnTo>
                    <a:pt x="360934" y="0"/>
                  </a:lnTo>
                  <a:lnTo>
                    <a:pt x="360934" y="451231"/>
                  </a:lnTo>
                  <a:lnTo>
                    <a:pt x="0" y="451231"/>
                  </a:lnTo>
                  <a:lnTo>
                    <a:pt x="0" y="0"/>
                  </a:lnTo>
                  <a:close/>
                </a:path>
              </a:pathLst>
            </a:custGeom>
            <a:blipFill>
              <a:blip r:embed="rId7"/>
              <a:stretch>
                <a:fillRect t="-992" b="-992"/>
              </a:stretch>
            </a:blipFill>
          </p:spPr>
        </p:sp>
      </p:grpSp>
      <p:sp>
        <p:nvSpPr>
          <p:cNvPr id="20" name="TextBox 20"/>
          <p:cNvSpPr txBox="1"/>
          <p:nvPr/>
        </p:nvSpPr>
        <p:spPr>
          <a:xfrm>
            <a:off x="9454156" y="3243411"/>
            <a:ext cx="7821513" cy="307777"/>
          </a:xfrm>
          <a:prstGeom prst="rect">
            <a:avLst/>
          </a:prstGeom>
        </p:spPr>
        <p:txBody>
          <a:bodyPr lIns="0" tIns="0" rIns="0" bIns="0" rtlCol="0" anchor="t">
            <a:spAutoFit/>
          </a:bodyPr>
          <a:lstStyle/>
          <a:p>
            <a:pPr algn="l">
              <a:lnSpc>
                <a:spcPts val="2437"/>
              </a:lnSpc>
            </a:pPr>
            <a:r>
              <a:rPr lang="en-US" sz="2499" b="1">
                <a:solidFill>
                  <a:srgbClr val="272525"/>
                </a:solidFill>
                <a:latin typeface="Arial Bold"/>
                <a:ea typeface="Arial Bold"/>
                <a:cs typeface="Arial Bold"/>
                <a:sym typeface="Arial Bold"/>
              </a:rPr>
              <a:t>Actionable Recommendations</a:t>
            </a:r>
          </a:p>
        </p:txBody>
      </p:sp>
      <p:sp>
        <p:nvSpPr>
          <p:cNvPr id="21" name="TextBox 21"/>
          <p:cNvSpPr txBox="1"/>
          <p:nvPr/>
        </p:nvSpPr>
        <p:spPr>
          <a:xfrm>
            <a:off x="9454157" y="3562796"/>
            <a:ext cx="7821514" cy="1301750"/>
          </a:xfrm>
          <a:prstGeom prst="rect">
            <a:avLst/>
          </a:prstGeom>
        </p:spPr>
        <p:txBody>
          <a:bodyPr lIns="0" tIns="0" rIns="0" bIns="0" rtlCol="0" anchor="t">
            <a:spAutoFit/>
          </a:bodyPr>
          <a:lstStyle/>
          <a:p>
            <a:pPr algn="just">
              <a:lnSpc>
                <a:spcPts val="2500"/>
              </a:lnSpc>
            </a:pPr>
            <a:r>
              <a:rPr lang="en-US" sz="2000">
                <a:solidFill>
                  <a:srgbClr val="272525"/>
                </a:solidFill>
                <a:latin typeface="Arial"/>
                <a:ea typeface="Arial"/>
                <a:cs typeface="Arial"/>
                <a:sym typeface="Arial"/>
              </a:rPr>
              <a:t>Provide specific, actionable tips to reduce carbon footprints, optimize energy use, and promote eco-friendly behaviors like plant-based diets, efficient waste management, and energy-saving home improvements.</a:t>
            </a:r>
          </a:p>
        </p:txBody>
      </p:sp>
      <p:sp>
        <p:nvSpPr>
          <p:cNvPr id="22" name="Freeform 22"/>
          <p:cNvSpPr/>
          <p:nvPr/>
        </p:nvSpPr>
        <p:spPr>
          <a:xfrm>
            <a:off x="797570" y="5807422"/>
            <a:ext cx="8250935" cy="3389948"/>
          </a:xfrm>
          <a:custGeom>
            <a:avLst/>
            <a:gdLst/>
            <a:ahLst/>
            <a:cxnLst/>
            <a:rect l="l" t="t" r="r" b="b"/>
            <a:pathLst>
              <a:path w="8250935" h="3389948">
                <a:moveTo>
                  <a:pt x="0" y="0"/>
                </a:moveTo>
                <a:lnTo>
                  <a:pt x="8250935" y="0"/>
                </a:lnTo>
                <a:lnTo>
                  <a:pt x="8250935" y="3389948"/>
                </a:lnTo>
                <a:lnTo>
                  <a:pt x="0" y="33899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3" name="Group 23"/>
          <p:cNvGrpSpPr/>
          <p:nvPr/>
        </p:nvGrpSpPr>
        <p:grpSpPr>
          <a:xfrm>
            <a:off x="1012329" y="6022181"/>
            <a:ext cx="601694" cy="601694"/>
            <a:chOff x="0" y="0"/>
            <a:chExt cx="802259" cy="802259"/>
          </a:xfrm>
        </p:grpSpPr>
        <p:sp>
          <p:nvSpPr>
            <p:cNvPr id="24" name="Freeform 24"/>
            <p:cNvSpPr/>
            <p:nvPr/>
          </p:nvSpPr>
          <p:spPr>
            <a:xfrm>
              <a:off x="0" y="0"/>
              <a:ext cx="802259" cy="802259"/>
            </a:xfrm>
            <a:custGeom>
              <a:avLst/>
              <a:gdLst/>
              <a:ahLst/>
              <a:cxnLst/>
              <a:rect l="l" t="t" r="r" b="b"/>
              <a:pathLst>
                <a:path w="802259" h="802259">
                  <a:moveTo>
                    <a:pt x="0" y="401193"/>
                  </a:moveTo>
                  <a:cubicBezTo>
                    <a:pt x="0" y="179578"/>
                    <a:pt x="179578" y="0"/>
                    <a:pt x="401193" y="0"/>
                  </a:cubicBezTo>
                  <a:cubicBezTo>
                    <a:pt x="622808" y="0"/>
                    <a:pt x="802259" y="179578"/>
                    <a:pt x="802259" y="401193"/>
                  </a:cubicBezTo>
                  <a:cubicBezTo>
                    <a:pt x="802259" y="622808"/>
                    <a:pt x="622681" y="802259"/>
                    <a:pt x="401193" y="802259"/>
                  </a:cubicBezTo>
                  <a:cubicBezTo>
                    <a:pt x="179705" y="802259"/>
                    <a:pt x="0" y="622681"/>
                    <a:pt x="0" y="401193"/>
                  </a:cubicBezTo>
                  <a:close/>
                </a:path>
              </a:pathLst>
            </a:custGeom>
            <a:solidFill>
              <a:srgbClr val="4950BC"/>
            </a:solidFill>
          </p:spPr>
        </p:sp>
      </p:grpSp>
      <p:grpSp>
        <p:nvGrpSpPr>
          <p:cNvPr id="25" name="Group 25"/>
          <p:cNvGrpSpPr/>
          <p:nvPr/>
        </p:nvGrpSpPr>
        <p:grpSpPr>
          <a:xfrm>
            <a:off x="1177826" y="6153745"/>
            <a:ext cx="270701" cy="338423"/>
            <a:chOff x="0" y="0"/>
            <a:chExt cx="360935" cy="451231"/>
          </a:xfrm>
        </p:grpSpPr>
        <p:sp>
          <p:nvSpPr>
            <p:cNvPr id="26" name="Freeform 26" descr="preencoded.png"/>
            <p:cNvSpPr/>
            <p:nvPr/>
          </p:nvSpPr>
          <p:spPr>
            <a:xfrm>
              <a:off x="0" y="0"/>
              <a:ext cx="360934" cy="451231"/>
            </a:xfrm>
            <a:custGeom>
              <a:avLst/>
              <a:gdLst/>
              <a:ahLst/>
              <a:cxnLst/>
              <a:rect l="l" t="t" r="r" b="b"/>
              <a:pathLst>
                <a:path w="360934" h="451231">
                  <a:moveTo>
                    <a:pt x="0" y="0"/>
                  </a:moveTo>
                  <a:lnTo>
                    <a:pt x="360934" y="0"/>
                  </a:lnTo>
                  <a:lnTo>
                    <a:pt x="360934" y="451231"/>
                  </a:lnTo>
                  <a:lnTo>
                    <a:pt x="0" y="451231"/>
                  </a:lnTo>
                  <a:lnTo>
                    <a:pt x="0" y="0"/>
                  </a:lnTo>
                  <a:close/>
                </a:path>
              </a:pathLst>
            </a:custGeom>
            <a:blipFill>
              <a:blip r:embed="rId8"/>
              <a:stretch>
                <a:fillRect t="-992" b="-992"/>
              </a:stretch>
            </a:blipFill>
          </p:spPr>
        </p:sp>
      </p:grpSp>
      <p:sp>
        <p:nvSpPr>
          <p:cNvPr id="27" name="TextBox 27"/>
          <p:cNvSpPr txBox="1"/>
          <p:nvPr/>
        </p:nvSpPr>
        <p:spPr>
          <a:xfrm>
            <a:off x="1012329" y="6824366"/>
            <a:ext cx="3407271" cy="307777"/>
          </a:xfrm>
          <a:prstGeom prst="rect">
            <a:avLst/>
          </a:prstGeom>
        </p:spPr>
        <p:txBody>
          <a:bodyPr lIns="0" tIns="0" rIns="0" bIns="0" rtlCol="0" anchor="t">
            <a:spAutoFit/>
          </a:bodyPr>
          <a:lstStyle/>
          <a:p>
            <a:pPr algn="l">
              <a:lnSpc>
                <a:spcPts val="2437"/>
              </a:lnSpc>
            </a:pPr>
            <a:r>
              <a:rPr lang="en-US" sz="2499" b="1">
                <a:solidFill>
                  <a:srgbClr val="272525"/>
                </a:solidFill>
                <a:latin typeface="Arial Bold"/>
                <a:ea typeface="Arial Bold"/>
                <a:cs typeface="Arial Bold"/>
                <a:sym typeface="Arial Bold"/>
              </a:rPr>
              <a:t>Real-time Adaptation</a:t>
            </a:r>
          </a:p>
        </p:txBody>
      </p:sp>
      <p:sp>
        <p:nvSpPr>
          <p:cNvPr id="28" name="TextBox 28"/>
          <p:cNvSpPr txBox="1"/>
          <p:nvPr/>
        </p:nvSpPr>
        <p:spPr>
          <a:xfrm>
            <a:off x="1012329" y="7143750"/>
            <a:ext cx="7821365" cy="987425"/>
          </a:xfrm>
          <a:prstGeom prst="rect">
            <a:avLst/>
          </a:prstGeom>
        </p:spPr>
        <p:txBody>
          <a:bodyPr lIns="0" tIns="0" rIns="0" bIns="0" rtlCol="0" anchor="t">
            <a:spAutoFit/>
          </a:bodyPr>
          <a:lstStyle/>
          <a:p>
            <a:pPr algn="just">
              <a:lnSpc>
                <a:spcPts val="2500"/>
              </a:lnSpc>
            </a:pPr>
            <a:r>
              <a:rPr lang="en-US" sz="2000">
                <a:solidFill>
                  <a:srgbClr val="272525"/>
                </a:solidFill>
                <a:latin typeface="Arial"/>
                <a:ea typeface="Arial"/>
                <a:cs typeface="Arial"/>
                <a:sym typeface="Arial"/>
              </a:rPr>
              <a:t>Utilize real-time satellite and sensor data to deliver adaptive, region-specific guidance, ensuring relevance and immediate impact based on current environmental conditions.</a:t>
            </a:r>
          </a:p>
        </p:txBody>
      </p:sp>
      <p:sp>
        <p:nvSpPr>
          <p:cNvPr id="29" name="Freeform 29"/>
          <p:cNvSpPr/>
          <p:nvPr/>
        </p:nvSpPr>
        <p:spPr>
          <a:xfrm>
            <a:off x="9239399" y="5807422"/>
            <a:ext cx="8251031" cy="3389948"/>
          </a:xfrm>
          <a:custGeom>
            <a:avLst/>
            <a:gdLst/>
            <a:ahLst/>
            <a:cxnLst/>
            <a:rect l="l" t="t" r="r" b="b"/>
            <a:pathLst>
              <a:path w="8251031" h="3389948">
                <a:moveTo>
                  <a:pt x="0" y="0"/>
                </a:moveTo>
                <a:lnTo>
                  <a:pt x="8251031" y="0"/>
                </a:lnTo>
                <a:lnTo>
                  <a:pt x="8251031" y="3389948"/>
                </a:lnTo>
                <a:lnTo>
                  <a:pt x="0" y="33899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30" name="Group 30"/>
          <p:cNvGrpSpPr/>
          <p:nvPr/>
        </p:nvGrpSpPr>
        <p:grpSpPr>
          <a:xfrm>
            <a:off x="9454157" y="6022181"/>
            <a:ext cx="601695" cy="601694"/>
            <a:chOff x="0" y="0"/>
            <a:chExt cx="802260" cy="802259"/>
          </a:xfrm>
        </p:grpSpPr>
        <p:sp>
          <p:nvSpPr>
            <p:cNvPr id="31" name="Freeform 31"/>
            <p:cNvSpPr/>
            <p:nvPr/>
          </p:nvSpPr>
          <p:spPr>
            <a:xfrm>
              <a:off x="0" y="0"/>
              <a:ext cx="802259" cy="802259"/>
            </a:xfrm>
            <a:custGeom>
              <a:avLst/>
              <a:gdLst/>
              <a:ahLst/>
              <a:cxnLst/>
              <a:rect l="l" t="t" r="r" b="b"/>
              <a:pathLst>
                <a:path w="802259" h="802259">
                  <a:moveTo>
                    <a:pt x="0" y="401193"/>
                  </a:moveTo>
                  <a:cubicBezTo>
                    <a:pt x="0" y="179578"/>
                    <a:pt x="179578" y="0"/>
                    <a:pt x="401193" y="0"/>
                  </a:cubicBezTo>
                  <a:cubicBezTo>
                    <a:pt x="622808" y="0"/>
                    <a:pt x="802259" y="179578"/>
                    <a:pt x="802259" y="401193"/>
                  </a:cubicBezTo>
                  <a:cubicBezTo>
                    <a:pt x="802259" y="622808"/>
                    <a:pt x="622681" y="802259"/>
                    <a:pt x="401193" y="802259"/>
                  </a:cubicBezTo>
                  <a:cubicBezTo>
                    <a:pt x="179705" y="802259"/>
                    <a:pt x="0" y="622681"/>
                    <a:pt x="0" y="401193"/>
                  </a:cubicBezTo>
                  <a:close/>
                </a:path>
              </a:pathLst>
            </a:custGeom>
            <a:solidFill>
              <a:srgbClr val="4950BC"/>
            </a:solidFill>
          </p:spPr>
        </p:sp>
      </p:grpSp>
      <p:grpSp>
        <p:nvGrpSpPr>
          <p:cNvPr id="32" name="Group 32"/>
          <p:cNvGrpSpPr/>
          <p:nvPr/>
        </p:nvGrpSpPr>
        <p:grpSpPr>
          <a:xfrm>
            <a:off x="9619655" y="6153745"/>
            <a:ext cx="270701" cy="338423"/>
            <a:chOff x="0" y="0"/>
            <a:chExt cx="360935" cy="451231"/>
          </a:xfrm>
        </p:grpSpPr>
        <p:sp>
          <p:nvSpPr>
            <p:cNvPr id="33" name="Freeform 33" descr="preencoded.png"/>
            <p:cNvSpPr/>
            <p:nvPr/>
          </p:nvSpPr>
          <p:spPr>
            <a:xfrm>
              <a:off x="0" y="0"/>
              <a:ext cx="360934" cy="451231"/>
            </a:xfrm>
            <a:custGeom>
              <a:avLst/>
              <a:gdLst/>
              <a:ahLst/>
              <a:cxnLst/>
              <a:rect l="l" t="t" r="r" b="b"/>
              <a:pathLst>
                <a:path w="360934" h="451231">
                  <a:moveTo>
                    <a:pt x="0" y="0"/>
                  </a:moveTo>
                  <a:lnTo>
                    <a:pt x="360934" y="0"/>
                  </a:lnTo>
                  <a:lnTo>
                    <a:pt x="360934" y="451231"/>
                  </a:lnTo>
                  <a:lnTo>
                    <a:pt x="0" y="451231"/>
                  </a:lnTo>
                  <a:lnTo>
                    <a:pt x="0" y="0"/>
                  </a:lnTo>
                  <a:close/>
                </a:path>
              </a:pathLst>
            </a:custGeom>
            <a:blipFill>
              <a:blip r:embed="rId9"/>
              <a:stretch>
                <a:fillRect t="-992" b="-992"/>
              </a:stretch>
            </a:blipFill>
          </p:spPr>
        </p:sp>
      </p:grpSp>
      <p:sp>
        <p:nvSpPr>
          <p:cNvPr id="34" name="TextBox 34"/>
          <p:cNvSpPr txBox="1"/>
          <p:nvPr/>
        </p:nvSpPr>
        <p:spPr>
          <a:xfrm>
            <a:off x="9454157" y="6824366"/>
            <a:ext cx="3042643" cy="307777"/>
          </a:xfrm>
          <a:prstGeom prst="rect">
            <a:avLst/>
          </a:prstGeom>
        </p:spPr>
        <p:txBody>
          <a:bodyPr lIns="0" tIns="0" rIns="0" bIns="0" rtlCol="0" anchor="t">
            <a:spAutoFit/>
          </a:bodyPr>
          <a:lstStyle/>
          <a:p>
            <a:pPr algn="l">
              <a:lnSpc>
                <a:spcPts val="2437"/>
              </a:lnSpc>
            </a:pPr>
            <a:r>
              <a:rPr lang="en-US" sz="2499" b="1">
                <a:solidFill>
                  <a:srgbClr val="272525"/>
                </a:solidFill>
                <a:latin typeface="Arial Bold"/>
                <a:ea typeface="Arial Bold"/>
                <a:cs typeface="Arial Bold"/>
                <a:sym typeface="Arial Bold"/>
              </a:rPr>
              <a:t>Monitor &amp; Engage</a:t>
            </a:r>
          </a:p>
        </p:txBody>
      </p:sp>
      <p:sp>
        <p:nvSpPr>
          <p:cNvPr id="35" name="TextBox 35"/>
          <p:cNvSpPr txBox="1"/>
          <p:nvPr/>
        </p:nvSpPr>
        <p:spPr>
          <a:xfrm>
            <a:off x="9454157" y="7143750"/>
            <a:ext cx="7821514" cy="987425"/>
          </a:xfrm>
          <a:prstGeom prst="rect">
            <a:avLst/>
          </a:prstGeom>
        </p:spPr>
        <p:txBody>
          <a:bodyPr lIns="0" tIns="0" rIns="0" bIns="0" rtlCol="0" anchor="t">
            <a:spAutoFit/>
          </a:bodyPr>
          <a:lstStyle/>
          <a:p>
            <a:pPr algn="just">
              <a:lnSpc>
                <a:spcPts val="2500"/>
              </a:lnSpc>
            </a:pPr>
            <a:r>
              <a:rPr lang="en-US" sz="2000">
                <a:solidFill>
                  <a:srgbClr val="272525"/>
                </a:solidFill>
                <a:latin typeface="Arial"/>
                <a:ea typeface="Arial"/>
                <a:cs typeface="Arial"/>
                <a:sym typeface="Arial"/>
              </a:rPr>
              <a:t>Monitor environmental impact with continuous feedback, promoting long-term sustainable habits and connecting users to local green resources to foster community engagement.</a:t>
            </a:r>
          </a:p>
        </p:txBody>
      </p:sp>
      <p:sp>
        <p:nvSpPr>
          <p:cNvPr id="36" name="TextBox 36"/>
          <p:cNvSpPr txBox="1"/>
          <p:nvPr/>
        </p:nvSpPr>
        <p:spPr>
          <a:xfrm>
            <a:off x="9454157" y="8226624"/>
            <a:ext cx="7821514" cy="673100"/>
          </a:xfrm>
          <a:prstGeom prst="rect">
            <a:avLst/>
          </a:prstGeom>
        </p:spPr>
        <p:txBody>
          <a:bodyPr lIns="0" tIns="0" rIns="0" bIns="0" rtlCol="0" anchor="t">
            <a:spAutoFit/>
          </a:bodyPr>
          <a:lstStyle/>
          <a:p>
            <a:pPr algn="just">
              <a:lnSpc>
                <a:spcPts val="2500"/>
              </a:lnSpc>
            </a:pPr>
            <a:r>
              <a:rPr lang="en-US" sz="2000">
                <a:solidFill>
                  <a:srgbClr val="272525"/>
                </a:solidFill>
                <a:latin typeface="Arial"/>
                <a:ea typeface="Arial"/>
                <a:cs typeface="Arial"/>
                <a:sym typeface="Arial"/>
              </a:rPr>
              <a:t>Give users immediate feedback to help them develop lasting eco-friendly habits and continually reduce their environmental impact.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6244" y="876300"/>
            <a:ext cx="8870156" cy="9592370"/>
          </a:xfrm>
          <a:prstGeom prst="rect">
            <a:avLst/>
          </a:prstGeom>
        </p:spPr>
        <p:txBody>
          <a:bodyPr wrap="square" lIns="0" tIns="0" rIns="0" bIns="0" rtlCol="0" anchor="t">
            <a:spAutoFit/>
          </a:bodyPr>
          <a:lstStyle/>
          <a:p>
            <a:pPr algn="just">
              <a:lnSpc>
                <a:spcPts val="2160"/>
              </a:lnSpc>
            </a:pPr>
            <a:r>
              <a:rPr lang="en-US" sz="2000" b="1" spc="2" dirty="0">
                <a:solidFill>
                  <a:srgbClr val="000000"/>
                </a:solidFill>
                <a:latin typeface="Arial Bold"/>
                <a:ea typeface="Arial Bold"/>
                <a:cs typeface="Arial Bold"/>
                <a:sym typeface="Arial Bold"/>
              </a:rPr>
              <a:t>Core Technologies: Utilizes cutting-edge methodologies, including:</a:t>
            </a:r>
          </a:p>
          <a:p>
            <a:pPr marL="431801" lvl="1" indent="-215900" algn="just">
              <a:lnSpc>
                <a:spcPts val="2160"/>
              </a:lnSpc>
              <a:buFont typeface="Arial"/>
              <a:buChar char="•"/>
            </a:pPr>
            <a:r>
              <a:rPr lang="en-US" sz="2000" spc="2" dirty="0">
                <a:solidFill>
                  <a:srgbClr val="000000"/>
                </a:solidFill>
                <a:latin typeface="Arial"/>
                <a:ea typeface="Arial"/>
                <a:cs typeface="Arial"/>
                <a:sym typeface="Arial"/>
              </a:rPr>
              <a:t>Convolutional Neural Networks (CNNs): For image processing and feature extraction.</a:t>
            </a:r>
          </a:p>
          <a:p>
            <a:pPr marL="431801" lvl="1" indent="-215900" algn="just">
              <a:lnSpc>
                <a:spcPts val="2160"/>
              </a:lnSpc>
              <a:buFont typeface="Arial"/>
              <a:buChar char="•"/>
            </a:pPr>
            <a:r>
              <a:rPr lang="en-US" sz="2000" spc="2" dirty="0">
                <a:solidFill>
                  <a:srgbClr val="000000"/>
                </a:solidFill>
                <a:latin typeface="Arial"/>
                <a:ea typeface="Arial"/>
                <a:cs typeface="Arial"/>
                <a:sym typeface="Arial"/>
              </a:rPr>
              <a:t>Transfer Learning: Leveraging pre-trained models to enhance performance with limited data</a:t>
            </a:r>
          </a:p>
          <a:p>
            <a:pPr marL="431801" lvl="1" indent="-215900" algn="just">
              <a:lnSpc>
                <a:spcPts val="2160"/>
              </a:lnSpc>
              <a:buFont typeface="Arial"/>
              <a:buChar char="•"/>
            </a:pPr>
            <a:r>
              <a:rPr lang="en-US" sz="2000" spc="2" dirty="0">
                <a:solidFill>
                  <a:srgbClr val="000000"/>
                </a:solidFill>
                <a:latin typeface="Arial"/>
                <a:ea typeface="Arial"/>
                <a:cs typeface="Arial"/>
                <a:sym typeface="Arial"/>
              </a:rPr>
              <a:t>Ensemble Methods: Combining predictions from various models to improve accuracy and robustness.</a:t>
            </a:r>
          </a:p>
          <a:p>
            <a:pPr algn="just">
              <a:lnSpc>
                <a:spcPts val="2160"/>
              </a:lnSpc>
            </a:pPr>
            <a:r>
              <a:rPr lang="en-US" sz="2000" b="1" spc="-84" dirty="0">
                <a:solidFill>
                  <a:srgbClr val="000000"/>
                </a:solidFill>
                <a:latin typeface="Arial Bold"/>
                <a:ea typeface="Arial Bold"/>
                <a:cs typeface="Arial Bold"/>
                <a:sym typeface="Arial Bold"/>
              </a:rPr>
              <a:t>Data Analysis (Input Data): The model analyzes multimodal environmental data, such as:</a:t>
            </a:r>
          </a:p>
          <a:p>
            <a:pPr marL="431801" lvl="1" indent="-215900" algn="just">
              <a:lnSpc>
                <a:spcPts val="2160"/>
              </a:lnSpc>
              <a:buFont typeface="Arial"/>
              <a:buChar char="•"/>
            </a:pPr>
            <a:r>
              <a:rPr lang="en-US" sz="2000" spc="2" dirty="0">
                <a:solidFill>
                  <a:srgbClr val="000000"/>
                </a:solidFill>
                <a:latin typeface="Arial"/>
                <a:ea typeface="Arial"/>
                <a:cs typeface="Arial"/>
                <a:sym typeface="Arial"/>
              </a:rPr>
              <a:t>Satellite Imagery: For visual detection of ecological changes.</a:t>
            </a:r>
          </a:p>
          <a:p>
            <a:pPr marL="431801" lvl="1" indent="-215900" algn="just">
              <a:lnSpc>
                <a:spcPts val="2160"/>
              </a:lnSpc>
              <a:buFont typeface="Arial"/>
              <a:buChar char="•"/>
            </a:pPr>
            <a:r>
              <a:rPr lang="en-US" sz="2000" spc="-52" dirty="0">
                <a:solidFill>
                  <a:srgbClr val="000000"/>
                </a:solidFill>
                <a:latin typeface="Arial"/>
                <a:ea typeface="Arial"/>
                <a:cs typeface="Arial"/>
                <a:sym typeface="Arial"/>
              </a:rPr>
              <a:t>Sensor Readings: For real-time monitoring of environmental parameters.</a:t>
            </a:r>
          </a:p>
          <a:p>
            <a:pPr marL="431801" lvl="1" indent="-215900" algn="just">
              <a:lnSpc>
                <a:spcPts val="2160"/>
              </a:lnSpc>
              <a:buFont typeface="Arial"/>
              <a:buChar char="•"/>
            </a:pPr>
            <a:r>
              <a:rPr lang="en-US" sz="2000" spc="2" dirty="0">
                <a:solidFill>
                  <a:srgbClr val="000000"/>
                </a:solidFill>
                <a:latin typeface="Arial"/>
                <a:ea typeface="Arial"/>
                <a:cs typeface="Arial"/>
                <a:sym typeface="Arial"/>
              </a:rPr>
              <a:t>User Inputs: Personalized data to enhance recommendation relevance.</a:t>
            </a:r>
          </a:p>
          <a:p>
            <a:pPr algn="just">
              <a:lnSpc>
                <a:spcPts val="2160"/>
              </a:lnSpc>
            </a:pPr>
            <a:r>
              <a:rPr lang="en-US" sz="2000" b="1" spc="2" dirty="0">
                <a:solidFill>
                  <a:srgbClr val="000000"/>
                </a:solidFill>
                <a:latin typeface="Arial Bold"/>
                <a:ea typeface="Arial Bold"/>
                <a:cs typeface="Arial Bold"/>
                <a:sym typeface="Arial Bold"/>
              </a:rPr>
              <a:t>Data Preparation</a:t>
            </a:r>
          </a:p>
          <a:p>
            <a:pPr marL="431801" lvl="1" indent="-215900" algn="just">
              <a:lnSpc>
                <a:spcPts val="2160"/>
              </a:lnSpc>
              <a:buFont typeface="Arial"/>
              <a:buChar char="•"/>
            </a:pPr>
            <a:r>
              <a:rPr lang="en-US" sz="2000" spc="2" dirty="0">
                <a:solidFill>
                  <a:srgbClr val="4950BC"/>
                </a:solidFill>
                <a:latin typeface="Arial"/>
                <a:ea typeface="Arial"/>
                <a:cs typeface="Arial"/>
                <a:sym typeface="Arial"/>
              </a:rPr>
              <a:t>Dataset:</a:t>
            </a:r>
            <a:r>
              <a:rPr lang="en-US" sz="2000" spc="2" dirty="0">
                <a:solidFill>
                  <a:srgbClr val="000000"/>
                </a:solidFill>
                <a:latin typeface="Arial"/>
                <a:ea typeface="Arial"/>
                <a:cs typeface="Arial"/>
                <a:sym typeface="Arial"/>
              </a:rPr>
              <a:t> Includes 5,920 samples.</a:t>
            </a:r>
          </a:p>
          <a:p>
            <a:pPr marL="431801" lvl="1" indent="-215900" algn="just">
              <a:lnSpc>
                <a:spcPts val="2160"/>
              </a:lnSpc>
              <a:buFont typeface="Arial"/>
              <a:buChar char="•"/>
            </a:pPr>
            <a:r>
              <a:rPr lang="en-US" sz="2000" spc="2" dirty="0">
                <a:solidFill>
                  <a:srgbClr val="4950BC"/>
                </a:solidFill>
                <a:latin typeface="Arial"/>
                <a:ea typeface="Arial"/>
                <a:cs typeface="Arial"/>
                <a:sym typeface="Arial"/>
              </a:rPr>
              <a:t>Processing: </a:t>
            </a:r>
          </a:p>
          <a:p>
            <a:pPr algn="just">
              <a:lnSpc>
                <a:spcPts val="2160"/>
              </a:lnSpc>
            </a:pPr>
            <a:r>
              <a:rPr lang="en-US" sz="2000" spc="2" dirty="0">
                <a:solidFill>
                  <a:srgbClr val="000000"/>
                </a:solidFill>
                <a:latin typeface="Arial"/>
                <a:ea typeface="Arial"/>
                <a:cs typeface="Arial"/>
                <a:sym typeface="Arial"/>
              </a:rPr>
              <a:t>         a) Rescaling: Images resized to 128x128 pixels.</a:t>
            </a:r>
          </a:p>
          <a:p>
            <a:pPr algn="just">
              <a:lnSpc>
                <a:spcPts val="2160"/>
              </a:lnSpc>
            </a:pPr>
            <a:r>
              <a:rPr lang="en-US" sz="2000" spc="2" dirty="0">
                <a:solidFill>
                  <a:srgbClr val="000000"/>
                </a:solidFill>
                <a:latin typeface="Arial"/>
                <a:ea typeface="Arial"/>
                <a:cs typeface="Arial"/>
                <a:sym typeface="Arial"/>
              </a:rPr>
              <a:t>         b) Normalization: Standardizes data values.</a:t>
            </a:r>
          </a:p>
          <a:p>
            <a:pPr algn="just">
              <a:lnSpc>
                <a:spcPts val="2160"/>
              </a:lnSpc>
            </a:pPr>
            <a:r>
              <a:rPr lang="en-US" sz="2000" spc="2" dirty="0">
                <a:solidFill>
                  <a:srgbClr val="000000"/>
                </a:solidFill>
                <a:latin typeface="Arial"/>
                <a:ea typeface="Arial"/>
                <a:cs typeface="Arial"/>
                <a:sym typeface="Arial"/>
              </a:rPr>
              <a:t>         c) Augmentation: Increases data variety to improve training.</a:t>
            </a:r>
          </a:p>
          <a:p>
            <a:pPr algn="just">
              <a:lnSpc>
                <a:spcPts val="2160"/>
              </a:lnSpc>
            </a:pPr>
            <a:r>
              <a:rPr lang="en-US" sz="2000" b="1" spc="2" dirty="0">
                <a:solidFill>
                  <a:srgbClr val="000000"/>
                </a:solidFill>
                <a:latin typeface="Arial Bold"/>
                <a:ea typeface="Arial Bold"/>
                <a:cs typeface="Arial Bold"/>
                <a:sym typeface="Arial Bold"/>
              </a:rPr>
              <a:t>Neural Network Architecture</a:t>
            </a:r>
          </a:p>
          <a:p>
            <a:pPr algn="just">
              <a:lnSpc>
                <a:spcPts val="2160"/>
              </a:lnSpc>
            </a:pPr>
            <a:r>
              <a:rPr lang="en-US" sz="2000" spc="2" dirty="0">
                <a:solidFill>
                  <a:srgbClr val="4950BC"/>
                </a:solidFill>
                <a:latin typeface="Arial"/>
                <a:ea typeface="Arial"/>
                <a:cs typeface="Arial"/>
                <a:sym typeface="Arial"/>
              </a:rPr>
              <a:t>Model Composition:</a:t>
            </a:r>
          </a:p>
          <a:p>
            <a:pPr marL="431801" lvl="1" indent="-215900" algn="just">
              <a:lnSpc>
                <a:spcPts val="2160"/>
              </a:lnSpc>
              <a:buFont typeface="Arial"/>
              <a:buChar char="•"/>
            </a:pPr>
            <a:r>
              <a:rPr lang="en-US" sz="2000" spc="2" dirty="0">
                <a:solidFill>
                  <a:srgbClr val="000000"/>
                </a:solidFill>
                <a:latin typeface="Arial"/>
                <a:ea typeface="Arial"/>
                <a:cs typeface="Arial"/>
                <a:sym typeface="Arial"/>
              </a:rPr>
              <a:t>Dense Layers: For feature learning</a:t>
            </a:r>
          </a:p>
          <a:p>
            <a:pPr marL="431801" lvl="1" indent="-215900" algn="just">
              <a:lnSpc>
                <a:spcPts val="2160"/>
              </a:lnSpc>
              <a:buFont typeface="Arial"/>
              <a:buChar char="•"/>
            </a:pPr>
            <a:r>
              <a:rPr lang="en-US" sz="2000" dirty="0">
                <a:solidFill>
                  <a:srgbClr val="000000"/>
                </a:solidFill>
                <a:latin typeface="Arial"/>
                <a:ea typeface="Arial"/>
                <a:cs typeface="Arial"/>
                <a:sym typeface="Arial"/>
              </a:rPr>
              <a:t>Long Short-Term Memory (LSTM) Layers: To capture sequential dependencies in time series data</a:t>
            </a:r>
          </a:p>
          <a:p>
            <a:pPr marL="431801" lvl="1" indent="-215900" algn="just">
              <a:lnSpc>
                <a:spcPts val="2160"/>
              </a:lnSpc>
              <a:buFont typeface="Arial"/>
              <a:buChar char="•"/>
            </a:pPr>
            <a:r>
              <a:rPr lang="en-US" sz="2000" spc="2" dirty="0">
                <a:solidFill>
                  <a:srgbClr val="000000"/>
                </a:solidFill>
                <a:latin typeface="Arial"/>
                <a:ea typeface="Arial"/>
                <a:cs typeface="Arial"/>
                <a:sym typeface="Arial"/>
              </a:rPr>
              <a:t>Dropout Layers: Implemented to prevent overfitting.</a:t>
            </a:r>
          </a:p>
          <a:p>
            <a:pPr algn="just">
              <a:lnSpc>
                <a:spcPts val="2160"/>
              </a:lnSpc>
            </a:pPr>
            <a:r>
              <a:rPr lang="en-US" sz="2000" spc="2" dirty="0">
                <a:solidFill>
                  <a:srgbClr val="4950BC"/>
                </a:solidFill>
                <a:latin typeface="Arial"/>
                <a:ea typeface="Arial"/>
                <a:cs typeface="Arial"/>
                <a:sym typeface="Arial"/>
              </a:rPr>
              <a:t>Activation Functions:</a:t>
            </a:r>
          </a:p>
          <a:p>
            <a:pPr marL="431801" lvl="1" indent="-215900" algn="just">
              <a:lnSpc>
                <a:spcPts val="2160"/>
              </a:lnSpc>
              <a:buFont typeface="Arial"/>
              <a:buChar char="•"/>
            </a:pPr>
            <a:r>
              <a:rPr lang="en-US" sz="2000" spc="2" dirty="0" err="1">
                <a:solidFill>
                  <a:srgbClr val="000000"/>
                </a:solidFill>
                <a:latin typeface="Arial"/>
                <a:ea typeface="Arial"/>
                <a:cs typeface="Arial"/>
                <a:sym typeface="Arial"/>
              </a:rPr>
              <a:t>ReLU</a:t>
            </a:r>
            <a:r>
              <a:rPr lang="en-US" sz="2000" spc="2" dirty="0">
                <a:solidFill>
                  <a:srgbClr val="000000"/>
                </a:solidFill>
                <a:latin typeface="Arial"/>
                <a:ea typeface="Arial"/>
                <a:cs typeface="Arial"/>
                <a:sym typeface="Arial"/>
              </a:rPr>
              <a:t> (Rectified Linear Unit): Employed for hidden layers to introduce non-linearity</a:t>
            </a:r>
          </a:p>
          <a:p>
            <a:pPr marL="431801" lvl="1" indent="-215900" algn="just">
              <a:lnSpc>
                <a:spcPts val="2160"/>
              </a:lnSpc>
              <a:buFont typeface="Arial"/>
              <a:buChar char="•"/>
            </a:pPr>
            <a:r>
              <a:rPr lang="en-US" sz="2000" spc="2" dirty="0" err="1">
                <a:solidFill>
                  <a:srgbClr val="000000"/>
                </a:solidFill>
                <a:latin typeface="Arial"/>
                <a:ea typeface="Arial"/>
                <a:cs typeface="Arial"/>
                <a:sym typeface="Arial"/>
              </a:rPr>
              <a:t>Softmax</a:t>
            </a:r>
            <a:r>
              <a:rPr lang="en-US" sz="2000" spc="2" dirty="0">
                <a:solidFill>
                  <a:srgbClr val="000000"/>
                </a:solidFill>
                <a:latin typeface="Arial"/>
                <a:ea typeface="Arial"/>
                <a:cs typeface="Arial"/>
                <a:sym typeface="Arial"/>
              </a:rPr>
              <a:t>: Used in the output layer for multi-class classification, providing probabilities for each ecological impact category.</a:t>
            </a:r>
          </a:p>
          <a:p>
            <a:pPr algn="just">
              <a:lnSpc>
                <a:spcPts val="2160"/>
              </a:lnSpc>
            </a:pPr>
            <a:r>
              <a:rPr lang="en-US" sz="2000" b="1" spc="2" dirty="0">
                <a:solidFill>
                  <a:srgbClr val="000000"/>
                </a:solidFill>
                <a:latin typeface="Arial Bold"/>
                <a:ea typeface="Arial Bold"/>
                <a:cs typeface="Arial Bold"/>
                <a:sym typeface="Arial Bold"/>
              </a:rPr>
              <a:t>Performance Metrics</a:t>
            </a:r>
          </a:p>
          <a:p>
            <a:pPr algn="just">
              <a:lnSpc>
                <a:spcPts val="2160"/>
              </a:lnSpc>
            </a:pPr>
            <a:r>
              <a:rPr lang="en-US" sz="2000" spc="2" dirty="0">
                <a:solidFill>
                  <a:srgbClr val="000000"/>
                </a:solidFill>
                <a:latin typeface="Arial"/>
                <a:ea typeface="Arial"/>
                <a:cs typeface="Arial"/>
                <a:sym typeface="Arial"/>
              </a:rPr>
              <a:t>•The configuration achieves a commendable 88.75% accuracy on test datasets, indicating high reliability in classifying ecological impacts like deforestation, pollution, urban sprawl, and biodiversity loss.</a:t>
            </a:r>
          </a:p>
          <a:p>
            <a:pPr algn="just">
              <a:lnSpc>
                <a:spcPts val="2160"/>
              </a:lnSpc>
            </a:pPr>
            <a:endParaRPr lang="en-US" sz="2000" spc="2" dirty="0">
              <a:solidFill>
                <a:srgbClr val="000000"/>
              </a:solidFill>
              <a:latin typeface="Arial"/>
              <a:ea typeface="Arial"/>
              <a:cs typeface="Arial"/>
              <a:sym typeface="Arial"/>
            </a:endParaRPr>
          </a:p>
        </p:txBody>
      </p:sp>
      <p:sp>
        <p:nvSpPr>
          <p:cNvPr id="3" name="TextBox 3"/>
          <p:cNvSpPr txBox="1"/>
          <p:nvPr/>
        </p:nvSpPr>
        <p:spPr>
          <a:xfrm>
            <a:off x="295557" y="182442"/>
            <a:ext cx="10197181" cy="599203"/>
          </a:xfrm>
          <a:prstGeom prst="rect">
            <a:avLst/>
          </a:prstGeom>
        </p:spPr>
        <p:txBody>
          <a:bodyPr lIns="0" tIns="0" rIns="0" bIns="0" rtlCol="0" anchor="t">
            <a:spAutoFit/>
          </a:bodyPr>
          <a:lstStyle/>
          <a:p>
            <a:pPr>
              <a:lnSpc>
                <a:spcPts val="5065"/>
              </a:lnSpc>
            </a:pPr>
            <a:r>
              <a:rPr lang="en-US" sz="3724" b="1" dirty="0">
                <a:solidFill>
                  <a:srgbClr val="4950BC"/>
                </a:solidFill>
                <a:latin typeface="Arial Bold"/>
                <a:ea typeface="Arial Bold"/>
                <a:cs typeface="Arial Bold"/>
                <a:sym typeface="Arial Bold"/>
              </a:rPr>
              <a:t>ABSTRACT:</a:t>
            </a:r>
            <a:r>
              <a:rPr lang="en-US" sz="3724" b="1" dirty="0">
                <a:solidFill>
                  <a:srgbClr val="000000"/>
                </a:solidFill>
                <a:latin typeface="Arial Bold"/>
                <a:ea typeface="Arial Bold"/>
                <a:cs typeface="Arial Bold"/>
                <a:sym typeface="Arial Bold"/>
              </a:rPr>
              <a:t> CORE &amp; MECHANISMS IMPACT</a:t>
            </a:r>
          </a:p>
        </p:txBody>
      </p:sp>
      <p:sp>
        <p:nvSpPr>
          <p:cNvPr id="4" name="TextBox 4"/>
          <p:cNvSpPr txBox="1"/>
          <p:nvPr/>
        </p:nvSpPr>
        <p:spPr>
          <a:xfrm>
            <a:off x="9442004" y="3889419"/>
            <a:ext cx="8569593" cy="6450330"/>
          </a:xfrm>
          <a:prstGeom prst="rect">
            <a:avLst/>
          </a:prstGeom>
        </p:spPr>
        <p:txBody>
          <a:bodyPr lIns="0" tIns="0" rIns="0" bIns="0" rtlCol="0" anchor="t">
            <a:spAutoFit/>
          </a:bodyPr>
          <a:lstStyle/>
          <a:p>
            <a:pPr algn="just">
              <a:lnSpc>
                <a:spcPts val="2160"/>
              </a:lnSpc>
            </a:pPr>
            <a:r>
              <a:rPr lang="en-US" sz="2000" b="1" spc="2">
                <a:solidFill>
                  <a:srgbClr val="000000"/>
                </a:solidFill>
                <a:latin typeface="Arial Bold"/>
                <a:ea typeface="Arial Bold"/>
                <a:cs typeface="Arial Bold"/>
                <a:sym typeface="Arial Bold"/>
              </a:rPr>
              <a:t>User Engagement Features</a:t>
            </a:r>
          </a:p>
          <a:p>
            <a:pPr marL="431801" lvl="1" indent="-215900" algn="just">
              <a:lnSpc>
                <a:spcPts val="2160"/>
              </a:lnSpc>
              <a:buFont typeface="Arial"/>
              <a:buChar char="•"/>
            </a:pPr>
            <a:r>
              <a:rPr lang="en-US" sz="2000" spc="2">
                <a:solidFill>
                  <a:srgbClr val="000000"/>
                </a:solidFill>
                <a:latin typeface="Arial"/>
                <a:ea typeface="Arial"/>
                <a:cs typeface="Arial"/>
                <a:sym typeface="Arial"/>
              </a:rPr>
              <a:t>Real-time Recommendations: Provides personalized sustainability advice based on user behavior and environmental data</a:t>
            </a:r>
          </a:p>
          <a:p>
            <a:pPr marL="431801" lvl="1" indent="-215900" algn="just">
              <a:lnSpc>
                <a:spcPts val="2160"/>
              </a:lnSpc>
              <a:buFont typeface="Arial"/>
              <a:buChar char="•"/>
            </a:pPr>
            <a:r>
              <a:rPr lang="en-US" sz="2000" spc="2">
                <a:solidFill>
                  <a:srgbClr val="000000"/>
                </a:solidFill>
                <a:latin typeface="Arial"/>
                <a:ea typeface="Arial"/>
                <a:cs typeface="Arial"/>
                <a:sym typeface="Arial"/>
              </a:rPr>
              <a:t>Impact Tracking: Monitors and reports the user's ecological footprint, fostering a more conscious lifestyle.</a:t>
            </a:r>
          </a:p>
          <a:p>
            <a:pPr marL="431801" lvl="1" indent="-215900" algn="just">
              <a:lnSpc>
                <a:spcPts val="2160"/>
              </a:lnSpc>
              <a:buFont typeface="Arial"/>
              <a:buChar char="•"/>
            </a:pPr>
            <a:r>
              <a:rPr lang="en-US" sz="2000" spc="2">
                <a:solidFill>
                  <a:srgbClr val="000000"/>
                </a:solidFill>
                <a:latin typeface="Arial"/>
                <a:ea typeface="Arial"/>
                <a:cs typeface="Arial"/>
                <a:sym typeface="Arial"/>
              </a:rPr>
              <a:t>Behavior Change Encouragement: Actively motivates users with actionable insights and community-driven challenges.</a:t>
            </a:r>
          </a:p>
          <a:p>
            <a:pPr algn="just">
              <a:lnSpc>
                <a:spcPts val="2160"/>
              </a:lnSpc>
            </a:pPr>
            <a:r>
              <a:rPr lang="en-US" sz="2000" b="1" spc="2">
                <a:solidFill>
                  <a:srgbClr val="000000"/>
                </a:solidFill>
                <a:latin typeface="Arial Bold"/>
                <a:ea typeface="Arial Bold"/>
                <a:cs typeface="Arial Bold"/>
                <a:sym typeface="Arial Bold"/>
              </a:rPr>
              <a:t>Scalability:</a:t>
            </a:r>
            <a:r>
              <a:rPr lang="en-US" sz="2000" spc="2">
                <a:solidFill>
                  <a:srgbClr val="000000"/>
                </a:solidFill>
                <a:latin typeface="Arial"/>
                <a:ea typeface="Arial"/>
                <a:cs typeface="Arial"/>
                <a:sym typeface="Arial"/>
              </a:rPr>
              <a:t> The designed system is versatile across:</a:t>
            </a:r>
          </a:p>
          <a:p>
            <a:pPr marL="431801" lvl="1" indent="-215900" algn="just">
              <a:lnSpc>
                <a:spcPts val="2160"/>
              </a:lnSpc>
              <a:buFont typeface="Arial"/>
              <a:buChar char="•"/>
            </a:pPr>
            <a:r>
              <a:rPr lang="en-US" sz="2000" spc="2">
                <a:solidFill>
                  <a:srgbClr val="000000"/>
                </a:solidFill>
                <a:latin typeface="Arial"/>
                <a:ea typeface="Arial"/>
                <a:cs typeface="Arial"/>
                <a:sym typeface="Arial"/>
              </a:rPr>
              <a:t>Residential Areas: Suggesting home improvements for energy efficiency.</a:t>
            </a:r>
          </a:p>
          <a:p>
            <a:pPr marL="431801" lvl="1" indent="-215900" algn="just">
              <a:lnSpc>
                <a:spcPts val="2160"/>
              </a:lnSpc>
              <a:buFont typeface="Arial"/>
              <a:buChar char="•"/>
            </a:pPr>
            <a:r>
              <a:rPr lang="en-US" sz="2000" spc="2">
                <a:solidFill>
                  <a:srgbClr val="000000"/>
                </a:solidFill>
                <a:latin typeface="Arial"/>
                <a:ea typeface="Arial"/>
                <a:cs typeface="Arial"/>
                <a:sym typeface="Arial"/>
              </a:rPr>
              <a:t>Commercial Entities: Helping businesses reduce waste and optimize resources. </a:t>
            </a:r>
          </a:p>
          <a:p>
            <a:pPr marL="431801" lvl="1" indent="-215900" algn="just">
              <a:lnSpc>
                <a:spcPts val="2160"/>
              </a:lnSpc>
              <a:buFont typeface="Arial"/>
              <a:buChar char="•"/>
            </a:pPr>
            <a:r>
              <a:rPr lang="en-US" sz="2000" spc="2">
                <a:solidFill>
                  <a:srgbClr val="000000"/>
                </a:solidFill>
                <a:latin typeface="Arial"/>
                <a:ea typeface="Arial"/>
                <a:cs typeface="Arial"/>
                <a:sym typeface="Arial"/>
              </a:rPr>
              <a:t>Industrial Sectors: Offering insights into compliance with environmental regulations.</a:t>
            </a:r>
          </a:p>
          <a:p>
            <a:pPr algn="just">
              <a:lnSpc>
                <a:spcPts val="2160"/>
              </a:lnSpc>
            </a:pPr>
            <a:endParaRPr lang="en-US" sz="2000" spc="2">
              <a:solidFill>
                <a:srgbClr val="000000"/>
              </a:solidFill>
              <a:latin typeface="Arial"/>
              <a:ea typeface="Arial"/>
              <a:cs typeface="Arial"/>
              <a:sym typeface="Arial"/>
            </a:endParaRPr>
          </a:p>
          <a:p>
            <a:pPr algn="just">
              <a:lnSpc>
                <a:spcPts val="2160"/>
              </a:lnSpc>
            </a:pPr>
            <a:r>
              <a:rPr lang="en-US" sz="2000" b="1" spc="2">
                <a:solidFill>
                  <a:srgbClr val="000000"/>
                </a:solidFill>
                <a:latin typeface="Arial Bold"/>
                <a:ea typeface="Arial Bold"/>
                <a:cs typeface="Arial Bold"/>
                <a:sym typeface="Arial Bold"/>
              </a:rPr>
              <a:t>Key Highlights</a:t>
            </a:r>
          </a:p>
          <a:p>
            <a:pPr marL="431801" lvl="1" indent="-215900" algn="just">
              <a:lnSpc>
                <a:spcPts val="2160"/>
              </a:lnSpc>
              <a:buFont typeface="Arial"/>
              <a:buChar char="•"/>
            </a:pPr>
            <a:r>
              <a:rPr lang="en-US" sz="2000" spc="2">
                <a:solidFill>
                  <a:srgbClr val="000000"/>
                </a:solidFill>
                <a:latin typeface="Arial"/>
                <a:ea typeface="Arial"/>
                <a:cs typeface="Arial"/>
                <a:sym typeface="Arial"/>
              </a:rPr>
              <a:t>Data Processing: Rescaling to 128x128 pixels, normalization, and augmentation for enhanced robustness and model performance.</a:t>
            </a:r>
          </a:p>
          <a:p>
            <a:pPr marL="431801" lvl="1" indent="-215900" algn="just">
              <a:lnSpc>
                <a:spcPts val="2160"/>
              </a:lnSpc>
              <a:buFont typeface="Arial"/>
              <a:buChar char="•"/>
            </a:pPr>
            <a:r>
              <a:rPr lang="en-US" sz="2000" spc="2">
                <a:solidFill>
                  <a:srgbClr val="000000"/>
                </a:solidFill>
                <a:latin typeface="Arial"/>
                <a:ea typeface="Arial"/>
                <a:cs typeface="Arial"/>
                <a:sym typeface="Arial"/>
              </a:rPr>
              <a:t>Performance: Achieves 88.75% accuracy on test sets, evaluated rigorously using metrics like precision, recall, and F1-score.</a:t>
            </a:r>
          </a:p>
          <a:p>
            <a:pPr marL="431801" lvl="1" indent="-215900" algn="just">
              <a:lnSpc>
                <a:spcPts val="2160"/>
              </a:lnSpc>
              <a:buFont typeface="Arial"/>
              <a:buChar char="•"/>
            </a:pPr>
            <a:r>
              <a:rPr lang="en-US" sz="2000" spc="2">
                <a:solidFill>
                  <a:srgbClr val="000000"/>
                </a:solidFill>
                <a:latin typeface="Arial"/>
                <a:ea typeface="Arial"/>
                <a:cs typeface="Arial"/>
                <a:sym typeface="Arial"/>
              </a:rPr>
              <a:t>Broader Impact: Promotes global sustainability by bridging environmental awareness with practical action, empowering individuals and communities.</a:t>
            </a:r>
          </a:p>
          <a:p>
            <a:pPr algn="just">
              <a:lnSpc>
                <a:spcPts val="2160"/>
              </a:lnSpc>
            </a:pPr>
            <a:endParaRPr lang="en-US" sz="2000" spc="2">
              <a:solidFill>
                <a:srgbClr val="000000"/>
              </a:solidFill>
              <a:latin typeface="Arial"/>
              <a:ea typeface="Arial"/>
              <a:cs typeface="Arial"/>
              <a:sym typeface="Arial"/>
            </a:endParaRPr>
          </a:p>
        </p:txBody>
      </p:sp>
      <p:grpSp>
        <p:nvGrpSpPr>
          <p:cNvPr id="5" name="Group 5"/>
          <p:cNvGrpSpPr/>
          <p:nvPr/>
        </p:nvGrpSpPr>
        <p:grpSpPr>
          <a:xfrm>
            <a:off x="11512117" y="372665"/>
            <a:ext cx="4429367" cy="3535804"/>
            <a:chOff x="0" y="0"/>
            <a:chExt cx="6129815" cy="4893210"/>
          </a:xfrm>
        </p:grpSpPr>
        <p:sp>
          <p:nvSpPr>
            <p:cNvPr id="6" name="Freeform 6" descr="preencoded.png"/>
            <p:cNvSpPr/>
            <p:nvPr/>
          </p:nvSpPr>
          <p:spPr>
            <a:xfrm>
              <a:off x="0" y="0"/>
              <a:ext cx="6129769" cy="4893209"/>
            </a:xfrm>
            <a:custGeom>
              <a:avLst/>
              <a:gdLst/>
              <a:ahLst/>
              <a:cxnLst/>
              <a:rect l="l" t="t" r="r" b="b"/>
              <a:pathLst>
                <a:path w="6129769" h="4893209">
                  <a:moveTo>
                    <a:pt x="0" y="0"/>
                  </a:moveTo>
                  <a:lnTo>
                    <a:pt x="6129769" y="0"/>
                  </a:lnTo>
                  <a:lnTo>
                    <a:pt x="6129769" y="4893209"/>
                  </a:lnTo>
                  <a:lnTo>
                    <a:pt x="0" y="4893209"/>
                  </a:lnTo>
                  <a:lnTo>
                    <a:pt x="0" y="0"/>
                  </a:lnTo>
                  <a:close/>
                </a:path>
              </a:pathLst>
            </a:custGeom>
            <a:blipFill>
              <a:blip r:embed="rId2"/>
              <a:stretch>
                <a:fillRect t="-12635" b="-12635"/>
              </a:stretch>
            </a:blipFill>
            <a:ln w="9525" cap="sq">
              <a:solidFill>
                <a:srgbClr val="8C8EBC"/>
              </a:solidFill>
              <a:prstDash val="solid"/>
              <a:miter/>
            </a:ln>
          </p:spPr>
        </p:sp>
      </p:grpSp>
      <p:sp>
        <p:nvSpPr>
          <p:cNvPr id="7" name="Freeform 7"/>
          <p:cNvSpPr/>
          <p:nvPr/>
        </p:nvSpPr>
        <p:spPr>
          <a:xfrm>
            <a:off x="13550875" y="-3333155"/>
            <a:ext cx="8219313" cy="8229600"/>
          </a:xfrm>
          <a:custGeom>
            <a:avLst/>
            <a:gdLst/>
            <a:ahLst/>
            <a:cxnLst/>
            <a:rect l="l" t="t" r="r" b="b"/>
            <a:pathLst>
              <a:path w="8219313" h="8229600">
                <a:moveTo>
                  <a:pt x="0" y="0"/>
                </a:moveTo>
                <a:lnTo>
                  <a:pt x="8219313" y="0"/>
                </a:lnTo>
                <a:lnTo>
                  <a:pt x="8219313" y="8229600"/>
                </a:lnTo>
                <a:lnTo>
                  <a:pt x="0" y="8229600"/>
                </a:lnTo>
                <a:lnTo>
                  <a:pt x="0" y="0"/>
                </a:lnTo>
                <a:close/>
              </a:path>
            </a:pathLst>
          </a:custGeom>
          <a:blipFill>
            <a:blip r:embed="rId3">
              <a:alphaModFix amt="36000"/>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702</Words>
  <Application>Microsoft Office PowerPoint</Application>
  <PresentationFormat>Custom</PresentationFormat>
  <Paragraphs>53</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Arial Bold</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aiml.pptx</dc:title>
  <dc:creator>Arpitapriyadarshini Sahoo</dc:creator>
  <cp:lastModifiedBy>Arpitapriyadarshini Sahoo</cp:lastModifiedBy>
  <cp:revision>3</cp:revision>
  <dcterms:created xsi:type="dcterms:W3CDTF">2006-08-16T00:00:00Z</dcterms:created>
  <dcterms:modified xsi:type="dcterms:W3CDTF">2025-08-29T12:08:17Z</dcterms:modified>
  <dc:identifier>DAGxc-gzZjc</dc:identifier>
</cp:coreProperties>
</file>